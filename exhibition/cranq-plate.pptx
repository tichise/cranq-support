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p-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432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4000" y="522000"/>
            <a:ext cx="216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410"/>
                </a:solidFill>
                <a:latin typeface="Inter Tight"/>
              </a:rPr>
              <a:t>Cranq</a:t>
            </a:r>
            <a:r>
              <a:rPr sz="900" b="0">
                <a:solidFill>
                  <a:srgbClr val="9C8E81"/>
                </a:solidFill>
                <a:latin typeface="Inter"/>
              </a:rPr>
              <a:t>  iOS · Cycling &amp;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6000" y="522000"/>
            <a:ext cx="28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9C8E81"/>
                </a:solidFill>
                <a:latin typeface="JetBrains Mono"/>
              </a:rPr>
              <a:t>EXHIBIT  ·  </a:t>
            </a:r>
            <a:r>
              <a:rPr sz="900" b="1">
                <a:solidFill>
                  <a:srgbClr val="5C4F44"/>
                </a:solidFill>
                <a:latin typeface="Noto Sans JP"/>
              </a:rPr>
              <a:t>#生成AIなんでも展示会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1080000"/>
            <a:ext cx="792000" cy="28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296000"/>
            <a:ext cx="65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2410C"/>
                </a:solidFill>
                <a:latin typeface="JetBrains Mono"/>
              </a:rPr>
              <a:t>EXHIBITION  /  生成AIなんでも展示会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584000"/>
            <a:ext cx="6552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A1410"/>
                </a:solidFill>
                <a:latin typeface="Noto Sans JP"/>
              </a:rPr>
              <a:t>走った記録を、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A1410"/>
                </a:solidFill>
                <a:latin typeface="Noto Sans JP"/>
              </a:rPr>
              <a:t/>
            </a:r>
            <a:r>
              <a:rPr sz="3200" b="1">
                <a:solidFill>
                  <a:srgbClr val="C2410C"/>
                </a:solidFill>
                <a:latin typeface="Inter Tight"/>
              </a:rPr>
              <a:t>AI</a:t>
            </a:r>
            <a:r>
              <a:rPr sz="3200" b="1">
                <a:solidFill>
                  <a:srgbClr val="1A1410"/>
                </a:solidFill>
                <a:latin typeface="Noto Sans JP"/>
              </a:rPr>
              <a:t>と一緒に読み返す。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2376000"/>
            <a:ext cx="65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C4F44"/>
                </a:solidFill>
                <a:latin typeface="Inter Tight"/>
              </a:rPr>
              <a:t>Your workouts, in your words — by your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808000"/>
            <a:ext cx="655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C4F44"/>
                </a:solidFill>
                <a:latin typeface="Noto Sans JP"/>
              </a:rPr>
              <a:t>Cranq は、サイクリングとランニングのための iOS アプリ。HealthKit に記録されたワークアウトのルート・標高・心拍・天気を 1 画面でまとめて振り返り、必要なら AI コーチに読ませて感想をもらえます。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3600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2410C"/>
                </a:solidFill>
                <a:latin typeface="JetBrains Mono"/>
              </a:rPr>
              <a:t>WHERE  AI  LIVES</a:t>
            </a:r>
            <a:r>
              <a:rPr sz="1100" b="1">
                <a:solidFill>
                  <a:srgbClr val="1A1410"/>
                </a:solidFill>
                <a:latin typeface="Noto Sans JP"/>
              </a:rPr>
              <a:t>   AI はどこで動いているか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" y="3924000"/>
            <a:ext cx="1800000" cy="792000"/>
          </a:xfrm>
          <a:prstGeom prst="round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000" y="4068000"/>
            <a:ext cx="252000" cy="2520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4068000"/>
            <a:ext cx="122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あなたの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OpenAI キーを設定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000" y="4176000"/>
            <a:ext cx="5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97316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0" y="3924000"/>
            <a:ext cx="1800000" cy="792000"/>
          </a:xfrm>
          <a:prstGeom prst="round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24000" y="4068000"/>
            <a:ext cx="252000" cy="2520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JetBrai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8000" y="4068000"/>
            <a:ext cx="122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端末から OpenAI へ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直接送信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6000" y="4176000"/>
            <a:ext cx="5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97316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6000" y="3924000"/>
            <a:ext cx="1800000" cy="792000"/>
          </a:xfrm>
          <a:prstGeom prst="round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0000" y="4068000"/>
            <a:ext cx="252000" cy="2520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000" y="4068000"/>
            <a:ext cx="122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ワークアウトを読んだ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410"/>
                </a:solidFill>
                <a:latin typeface="Noto Sans JP"/>
              </a:rPr>
              <a:t>自然言語フィードバック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0000" y="4824000"/>
            <a:ext cx="2160000" cy="2880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BYOK  ·  </a:t>
            </a:r>
            <a:r>
              <a:rPr sz="1000" b="1">
                <a:solidFill>
                  <a:srgbClr val="FFFFFF"/>
                </a:solidFill>
                <a:latin typeface="Noto Sans JP"/>
              </a:rPr>
              <a:t>中継サーバーなし。鍵はあなたのもの。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" y="53640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2410C"/>
                </a:solidFill>
                <a:latin typeface="JetBrains Mono"/>
              </a:rPr>
              <a:t>WHY  IT  WORKS</a:t>
            </a:r>
            <a:r>
              <a:rPr sz="1100" b="1">
                <a:solidFill>
                  <a:srgbClr val="1A1410"/>
                </a:solidFill>
                <a:latin typeface="Noto Sans JP"/>
              </a:rPr>
              <a:t>   設計上の効果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000" y="5688000"/>
            <a:ext cx="3204000" cy="684000"/>
          </a:xfrm>
          <a:prstGeom prst="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000" y="5688000"/>
            <a:ext cx="43200" cy="684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5760000"/>
            <a:ext cx="29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410"/>
                </a:solidFill>
                <a:latin typeface="Noto Sans JP"/>
              </a:rPr>
              <a:t>数値だけを渡す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" y="5976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4F44"/>
                </a:solidFill>
                <a:latin typeface="Noto Sans JP"/>
              </a:rPr>
              <a:t>氏名や連絡先は送らない。AI に渡すのは HealthKit の運動指標。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2000" y="5688000"/>
            <a:ext cx="3204000" cy="684000"/>
          </a:xfrm>
          <a:prstGeom prst="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52000" y="5688000"/>
            <a:ext cx="43200" cy="684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6000" y="5760000"/>
            <a:ext cx="29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410"/>
                </a:solidFill>
                <a:latin typeface="Noto Sans JP"/>
              </a:rPr>
              <a:t>BYOK（自分の鍵）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6000" y="5976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4F44"/>
                </a:solidFill>
                <a:latin typeface="Noto Sans JP"/>
              </a:rPr>
              <a:t>AI 利用ぶんはあなたの OpenAI 従量。サブスクや追加課金はゼロ。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4000" y="6480000"/>
            <a:ext cx="3204000" cy="684000"/>
          </a:xfrm>
          <a:prstGeom prst="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4000" y="6480000"/>
            <a:ext cx="43200" cy="684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00" y="6552000"/>
            <a:ext cx="29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410"/>
                </a:solidFill>
                <a:latin typeface="Noto Sans JP"/>
              </a:rPr>
              <a:t>中継サーバーなし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" y="6768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4F44"/>
                </a:solidFill>
                <a:latin typeface="Noto Sans JP"/>
              </a:rPr>
              <a:t>通信は端末から OpenAI へ直送。Cranq 側にログは残らない。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2000" y="6480000"/>
            <a:ext cx="3204000" cy="684000"/>
          </a:xfrm>
          <a:prstGeom prst="rect">
            <a:avLst/>
          </a:prstGeom>
          <a:solidFill>
            <a:srgbClr val="F4EDE3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52000" y="6480000"/>
            <a:ext cx="43200" cy="684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6000" y="6552000"/>
            <a:ext cx="29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410"/>
                </a:solidFill>
                <a:latin typeface="Noto Sans JP"/>
              </a:rPr>
              <a:t>AI はオプトイン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6000" y="6768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C4F44"/>
                </a:solidFill>
                <a:latin typeface="Noto Sans JP"/>
              </a:rPr>
              <a:t>鍵を設定しない限り AI は動かない。記録閲覧と統計は単独で完結。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000" y="7380000"/>
            <a:ext cx="655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C4F44"/>
                </a:solidFill>
                <a:latin typeface="Noto Sans JP"/>
              </a:rPr>
              <a:t>「計画する AI」ではなく、</a:t>
            </a:r>
            <a:r>
              <a:rPr sz="1100" b="1">
                <a:solidFill>
                  <a:srgbClr val="C2410C"/>
                </a:solidFill>
                <a:latin typeface="Noto Sans JP"/>
              </a:rPr>
              <a:t>振り返る AI</a:t>
            </a:r>
            <a:r>
              <a:rPr sz="1100" b="0">
                <a:solidFill>
                  <a:srgbClr val="5C4F44"/>
                </a:solidFill>
                <a:latin typeface="Noto Sans JP"/>
              </a:rPr>
              <a:t>。日記を続けられない人の、書いてくれる版。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000" y="9036000"/>
            <a:ext cx="115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qr-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00" y="9090000"/>
            <a:ext cx="1044000" cy="1044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836000" y="9072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2410C"/>
                </a:solidFill>
                <a:latin typeface="JetBrains Mono"/>
              </a:rPr>
              <a:t>SUPPORT  ·  使い方とサポート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36000" y="9288000"/>
            <a:ext cx="52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410"/>
                </a:solidFill>
                <a:latin typeface="JetBrains Mono"/>
              </a:rPr>
              <a:t>tichise.github.io/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410"/>
                </a:solidFill>
                <a:latin typeface="JetBrains Mono"/>
              </a:rPr>
              <a:t>cranq-support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6000" y="9684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C4F44"/>
                </a:solidFill>
                <a:latin typeface="Noto Sans JP"/>
              </a:rPr>
              <a:t>App Store でも配信中（リンクはサポートページから）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36000" y="9936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8E81"/>
                </a:solidFill>
                <a:latin typeface="Noto Sans JP"/>
              </a:rPr>
              <a:t>作: </a:t>
            </a:r>
            <a:r>
              <a:rPr sz="900" b="1">
                <a:solidFill>
                  <a:srgbClr val="1A1410"/>
                </a:solidFill>
                <a:latin typeface="Inter"/>
              </a:rPr>
              <a:t>tichise</a:t>
            </a:r>
            <a:r>
              <a:rPr sz="900" b="0">
                <a:solidFill>
                  <a:srgbClr val="9C8E81"/>
                </a:solidFill>
                <a:latin typeface="JetBrains Mono"/>
              </a:rPr>
              <a:t>  ·  @tichise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